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48248993d_1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48248993d_1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55af575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55af575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55af575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55af575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55af5756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55af5756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48248993d_1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48248993d_1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48248993d_1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48248993d_1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55af5756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55af5756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458900" y="646775"/>
            <a:ext cx="57747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Domain-Specific Knowledge Graphs in RAG-Enhanced Healthcare LLMs</a:t>
            </a:r>
            <a:endParaRPr sz="450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477442" y="325500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Sydney Anuyah, Mehedi Mahmud Kaushik, Hao Dai, Rakesh Shiradkar, Arjan Durresi, Sunandan Chakraborty</a:t>
            </a:r>
            <a:endParaRPr b="1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429550" y="571650"/>
            <a:ext cx="5478600" cy="20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Introduction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100">
                <a:latin typeface="Lato"/>
                <a:ea typeface="Lato"/>
                <a:cs typeface="Lato"/>
                <a:sym typeface="Lato"/>
              </a:rPr>
              <a:t>The Problem: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Alzheimer's (AD) and Type 2 Diabetes (T2DM) are massive, growing health crises with deep molecular links (e.g., insulin resistance, inflammation).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Large Language Models (LLMs) are unreliable for medical questions—they often "hallucinate" facts and citations, making them unsafe.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A Potential Solution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: Retrieval-Augmented Generation (RAG) grounds LLMs in external facts.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100"/>
              <a:buFont typeface="Lato"/>
              <a:buChar char="●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Standard RAG uses messy text.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We investigate if using structured Knowledge Graphs (KGs) (Subject, Relation, Object triples), provides cleaner, more accurate answers.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482107" y="3184988"/>
            <a:ext cx="4898700" cy="21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Key Research Questions: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rabi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Does using a domain-specific KG for RAG improve factual accuracy?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rabi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Does the scope of the KG matter? (e.g., a focused AD-only graph vs. a broad merged AD+T2DM graph).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rabi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How do small vs. large LLMs react to KG-RAG?</a:t>
            </a:r>
            <a:endParaRPr b="0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60600" y="38700"/>
            <a:ext cx="9022800" cy="5066100"/>
          </a:xfrm>
          <a:prstGeom prst="frame">
            <a:avLst>
              <a:gd fmla="val 2072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lzheimer's (AD) and Type 2 Diabetes"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150" y="1121275"/>
            <a:ext cx="2900950" cy="29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608975" y="492325"/>
            <a:ext cx="7104900" cy="3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Methodology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rabicPeriod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Data Collection: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We selected ~1000 top-ranking PubMed abstracts for three categories: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lphaL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T2DM-only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lphaL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AD-only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lphaL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AD + T2DM combined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rabicPeriod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KG Construction: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We used an improved CoDe-KG pipeline to automatically extract fact triples from the abstracts. We built 3 distinct KGs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lphaL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(T2DM-only)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lphaL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(AD-only)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lphaLcPeriod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(The combined KG)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rabicPeriod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Evaluation Probes: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We created two custom multiple-choice question sets, Probe 1 and Probe 2, more in the slides.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AutoNum type="arabicPeriod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The Experiment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: We tested 7 different LLMs across 6 RAG configurations at different temperatures.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5"/>
          <p:cNvSpPr txBox="1"/>
          <p:nvPr>
            <p:ph idx="4294967295" type="title"/>
          </p:nvPr>
        </p:nvSpPr>
        <p:spPr>
          <a:xfrm>
            <a:off x="1775250" y="3590075"/>
            <a:ext cx="5593500" cy="32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Pipeline: Abstract selection → KG construction → Probe generation → LLM evaluation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60600" y="38700"/>
            <a:ext cx="9022800" cy="5066100"/>
          </a:xfrm>
          <a:prstGeom prst="frame">
            <a:avLst>
              <a:gd fmla="val 2072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088" y="192513"/>
            <a:ext cx="40258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4" name="Google Shape;94;p16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7">
            <a:off x="3535628" y="175319"/>
            <a:ext cx="1897847" cy="67418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4294967295" type="body"/>
          </p:nvPr>
        </p:nvSpPr>
        <p:spPr>
          <a:xfrm>
            <a:off x="2845963" y="891888"/>
            <a:ext cx="3429000" cy="38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Experimental Setup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"/>
              <a:buChar char="➔"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Models:</a:t>
            </a:r>
            <a:r>
              <a:rPr lang="en" sz="1100">
                <a:latin typeface="Raleway"/>
                <a:ea typeface="Raleway"/>
                <a:cs typeface="Raleway"/>
                <a:sym typeface="Raleway"/>
              </a:rPr>
              <a:t> Tested 7 different LLMs.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"/>
              <a:buChar char="➔"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Setups</a:t>
            </a:r>
            <a:r>
              <a:rPr lang="en" sz="1100">
                <a:latin typeface="Raleway"/>
                <a:ea typeface="Raleway"/>
                <a:cs typeface="Raleway"/>
                <a:sym typeface="Raleway"/>
              </a:rPr>
              <a:t>: Compared LLM performance across 6 RAG configurations: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◆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No-RAG (Baseline)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◆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G1 (T2DM-only)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◆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G2 (AD-only)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◆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G1 + G2 (Two separate KGs)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◆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G3 (The combined KG)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◆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All KGs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"/>
              <a:buChar char="➔"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Prompting:</a:t>
            </a:r>
            <a:r>
              <a:rPr lang="en" sz="1100">
                <a:latin typeface="Raleway"/>
                <a:ea typeface="Raleway"/>
                <a:cs typeface="Raleway"/>
                <a:sym typeface="Raleway"/>
              </a:rPr>
              <a:t> Used zero-shot instruction prompts, forcing the LLM to return only the single uppercase answer letter (e.g., "A").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Raleway"/>
              <a:buChar char="➔"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Parameters</a:t>
            </a:r>
            <a:r>
              <a:rPr lang="en" sz="1100">
                <a:latin typeface="Raleway"/>
                <a:ea typeface="Raleway"/>
                <a:cs typeface="Raleway"/>
                <a:sym typeface="Raleway"/>
              </a:rPr>
              <a:t>: Ran tests at low "temperature" (T=0.0, 0.2, 0.5) to make the models stick to the retrieved facts.</a:t>
            </a:r>
            <a:endParaRPr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1999" r="0" t="3072"/>
          <a:stretch/>
        </p:blipFill>
        <p:spPr>
          <a:xfrm>
            <a:off x="0" y="0"/>
            <a:ext cx="907361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idx="4294967295" type="title"/>
          </p:nvPr>
        </p:nvSpPr>
        <p:spPr>
          <a:xfrm>
            <a:off x="6680900" y="3080300"/>
            <a:ext cx="2334600" cy="1888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latin typeface="Lato"/>
                <a:ea typeface="Lato"/>
                <a:cs typeface="Lato"/>
                <a:sym typeface="Lato"/>
              </a:rPr>
              <a:t>Overview of the methodology for constructing domain-specific knowledge graphs and evaluating their impact on RAG-enhanced healthcare LLMs. </a:t>
            </a:r>
            <a:endParaRPr b="0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latin typeface="Lato"/>
                <a:ea typeface="Lato"/>
                <a:cs typeface="Lato"/>
                <a:sym typeface="Lato"/>
              </a:rPr>
              <a:t>The pipeline includes abstract selection, knowledge graph construction, probe generation, and systematic evaluation across multiple models and retrieval configurations</a:t>
            </a:r>
            <a:endParaRPr b="0"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16168" l="7165" r="10752" t="7349"/>
          <a:stretch/>
        </p:blipFill>
        <p:spPr>
          <a:xfrm>
            <a:off x="296132" y="845513"/>
            <a:ext cx="548112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idx="4294967295" type="title"/>
          </p:nvPr>
        </p:nvSpPr>
        <p:spPr>
          <a:xfrm>
            <a:off x="5590425" y="1309175"/>
            <a:ext cx="3380400" cy="21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Probe 1: Based on Combined KG (G</a:t>
            </a:r>
            <a:r>
              <a:rPr baseline="-25000" lang="en" sz="1100">
                <a:solidFill>
                  <a:schemeClr val="dk2"/>
                </a:solidFill>
              </a:rPr>
              <a:t>3</a:t>
            </a:r>
            <a:r>
              <a:rPr lang="en" sz="1100">
                <a:solidFill>
                  <a:schemeClr val="dk2"/>
                </a:solidFill>
              </a:rPr>
              <a:t>)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Content:</a:t>
            </a:r>
            <a:r>
              <a:rPr b="0" lang="en" sz="1100">
                <a:solidFill>
                  <a:schemeClr val="dk2"/>
                </a:solidFill>
              </a:rPr>
              <a:t> 100 multiple-choice questions sourced from the combined AD+T2DM graph.</a:t>
            </a:r>
            <a:endParaRPr b="0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Question Types:</a:t>
            </a:r>
            <a:endParaRPr sz="1100">
              <a:solidFill>
                <a:schemeClr val="dk2"/>
              </a:solidFill>
            </a:endParaRPr>
          </a:p>
          <a:p>
            <a:pPr indent="-2921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b="0" lang="en" sz="1000">
                <a:solidFill>
                  <a:schemeClr val="dk2"/>
                </a:solidFill>
              </a:rPr>
              <a:t>Single-hop: Tests a direct causal link (e.g., A -&gt; B).</a:t>
            </a:r>
            <a:endParaRPr b="0" sz="1000">
              <a:solidFill>
                <a:schemeClr val="dk2"/>
              </a:solidFill>
            </a:endParaRPr>
          </a:p>
          <a:p>
            <a:pPr indent="-2921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b="0" lang="en" sz="1000">
                <a:solidFill>
                  <a:schemeClr val="dk2"/>
                </a:solidFill>
              </a:rPr>
              <a:t>Multi-hop: Asks for two direct causes of a target (e.g., {A, B} -&gt; C).</a:t>
            </a:r>
            <a:endParaRPr b="0" sz="1000">
              <a:solidFill>
                <a:schemeClr val="dk2"/>
              </a:solidFill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b="0" lang="en" sz="1000">
                <a:solidFill>
                  <a:schemeClr val="dk2"/>
                </a:solidFill>
              </a:rPr>
              <a:t>Fill-</a:t>
            </a:r>
            <a:r>
              <a:rPr b="0" lang="en" sz="1100">
                <a:solidFill>
                  <a:schemeClr val="dk2"/>
                </a:solidFill>
              </a:rPr>
              <a:t>in-the-blank: Masks an entity in a known fact.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0600" y="38700"/>
            <a:ext cx="9022800" cy="5066100"/>
          </a:xfrm>
          <a:prstGeom prst="frame">
            <a:avLst>
              <a:gd fmla="val 2072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8"/>
          <p:cNvSpPr txBox="1"/>
          <p:nvPr>
            <p:ph idx="4294967295" type="title"/>
          </p:nvPr>
        </p:nvSpPr>
        <p:spPr>
          <a:xfrm>
            <a:off x="1076642" y="3893520"/>
            <a:ext cx="39201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Results of Probe 1, averaged across the three temperatures (0.0, 0.2 and 0.5)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16484" l="7245" r="12245" t="7757"/>
          <a:stretch/>
        </p:blipFill>
        <p:spPr>
          <a:xfrm>
            <a:off x="274457" y="822884"/>
            <a:ext cx="5388200" cy="30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4294967295" type="title"/>
          </p:nvPr>
        </p:nvSpPr>
        <p:spPr>
          <a:xfrm>
            <a:off x="5604900" y="968350"/>
            <a:ext cx="3380400" cy="28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Probe 2: Based on KG Intersection (G1 + G2)</a:t>
            </a:r>
            <a:endParaRPr sz="1100"/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Goal:</a:t>
            </a:r>
            <a:r>
              <a:rPr b="0" lang="en" sz="1100"/>
              <a:t> To test knowledge of concepts shared between both diseases (e.g., inflammation, insulin signaling).</a:t>
            </a:r>
            <a:endParaRPr b="0" sz="1100"/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Method:</a:t>
            </a:r>
            <a:endParaRPr sz="1100"/>
          </a:p>
          <a:p>
            <a:pPr indent="-2921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b="0" lang="en" sz="1000"/>
              <a:t>Embedded all triples from G1 and G2. </a:t>
            </a:r>
            <a:endParaRPr b="0" sz="1000"/>
          </a:p>
          <a:p>
            <a:pPr indent="-2921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b="0" lang="en" sz="1000"/>
              <a:t>Found overlapping concepts by finding triple-pairs with high cosine similarity (</a:t>
            </a:r>
            <a:r>
              <a:rPr b="0" lang="en" sz="1000" u="sng"/>
              <a:t>&gt;</a:t>
            </a:r>
            <a:r>
              <a:rPr b="0" lang="en" sz="1000"/>
              <a:t> 0.65).</a:t>
            </a:r>
            <a:endParaRPr b="0" sz="1000"/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Content:</a:t>
            </a:r>
            <a:r>
              <a:rPr b="0" lang="en" sz="1100"/>
              <a:t> Focused on this shared subgraph and specifically tested for causal direction (i.e., knowing A -&gt; X is different from X -&gt; A).</a:t>
            </a:r>
            <a:endParaRPr b="0" sz="1000"/>
          </a:p>
        </p:txBody>
      </p:sp>
      <p:sp>
        <p:nvSpPr>
          <p:cNvPr id="116" name="Google Shape;116;p19"/>
          <p:cNvSpPr/>
          <p:nvPr/>
        </p:nvSpPr>
        <p:spPr>
          <a:xfrm>
            <a:off x="60600" y="38700"/>
            <a:ext cx="9022800" cy="5066100"/>
          </a:xfrm>
          <a:prstGeom prst="frame">
            <a:avLst>
              <a:gd fmla="val 2072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9"/>
          <p:cNvSpPr txBox="1"/>
          <p:nvPr>
            <p:ph idx="4294967295" type="title"/>
          </p:nvPr>
        </p:nvSpPr>
        <p:spPr>
          <a:xfrm>
            <a:off x="979608" y="3851132"/>
            <a:ext cx="39201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Results of Probe </a:t>
            </a:r>
            <a:r>
              <a:rPr lang="en" sz="11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averaged across the three temperatures (0.0, 0.2 and 0.5)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idx="4294967295" type="title"/>
          </p:nvPr>
        </p:nvSpPr>
        <p:spPr>
          <a:xfrm>
            <a:off x="1087500" y="701775"/>
            <a:ext cx="6969000" cy="3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Key Results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Finding 1: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Higher "creativity" (Temperature 0.5) consistently reduced accuracy. T=0.0 was the safest default.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Finding 2: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Large Models (Llama-70B, Claude-Haiku):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KG-RAG often hurt performance compared to the No-RAG baseline.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Why?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These models already have strong internal knowledge. The retrieved KG facts often acted as "distractors" or noise, confusing the model and leading to statistically significant drops in accuracy.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Finding 3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: Small/Mid-Models (Mistral-7B, Mixtral-8x7B):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These models benefited significantly from KG-RAG.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Why?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The external KG context successfully filled gaps in their parametric knowledge, leading to statistically significant gains (especially on the harder Probe 2).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Finding 4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: Which Graph Was Best?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Bigger was not better. The broad, merged graph 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and combined graphs often performed poorly.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The AD-focused graph 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was the most consistent and helpful, providing the only positive average improvement across all experiments.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60600" y="38700"/>
            <a:ext cx="9022800" cy="5066100"/>
          </a:xfrm>
          <a:prstGeom prst="frame">
            <a:avLst>
              <a:gd fmla="val 2072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4294967295" type="title"/>
          </p:nvPr>
        </p:nvSpPr>
        <p:spPr>
          <a:xfrm>
            <a:off x="1174950" y="690675"/>
            <a:ext cx="6794100" cy="428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Discussion &amp; Takeaways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Takeaway 1: RAG is Not One-Size-Fits-All.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For Large Models, KG-RAG is risky and often harmful. Their strong internal knowledge is easily "distracted" by noisy or near-miss retrieved facts.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For Small Models, KG-RAG is highly beneficial, if the KG is clean and highly relevant.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Takeaway 2: Precision &gt; Recall.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Simply adding more KGs (e.g., 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+ 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+ 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) increased noise, diluted key facts, and significantly reduced accuracy.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A smaller, focused, high-precision KG (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G</a:t>
            </a:r>
            <a:r>
              <a:rPr b="0" baseline="-25000" lang="en" sz="1100"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) was far more effective.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Takeaway 3: Match Scope to Task.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b="0" lang="en" sz="1100">
                <a:latin typeface="Lato"/>
                <a:ea typeface="Lato"/>
                <a:cs typeface="Lato"/>
                <a:sym typeface="Lato"/>
              </a:rPr>
              <a:t>The RAG-KG must be relevant to the question. Using a T2DM-only graph for a combined AD+T2DM question is ineffective.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Error Analysis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: Most failures (over 50%) were in complex reasoning, like confusing cause/effect direction (A -&gt; B vs. B -&gt; A) or mis-ordering multi-step pathways.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60600" y="38700"/>
            <a:ext cx="9022800" cy="5066100"/>
          </a:xfrm>
          <a:prstGeom prst="frame">
            <a:avLst>
              <a:gd fmla="val 2072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idx="4294967295" type="title"/>
          </p:nvPr>
        </p:nvSpPr>
        <p:spPr>
          <a:xfrm>
            <a:off x="2204850" y="1189875"/>
            <a:ext cx="4734300" cy="1793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Conclusion &amp; Recommendations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Right-size RAG to your model: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Small models benefit from clean, focused KGs; large models are often better off with no RAG or very strict filters.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Favor precision: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Don't just dump KGs into the context. Filter for the most relevant facts.</a:t>
            </a:r>
            <a:endParaRPr b="0" sz="11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100"/>
              <a:buFont typeface="Lato"/>
              <a:buChar char="●"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Match retrieval scope to task scope: </a:t>
            </a:r>
            <a:r>
              <a:rPr b="0" lang="en" sz="1100">
                <a:latin typeface="Lato"/>
                <a:ea typeface="Lato"/>
                <a:cs typeface="Lato"/>
                <a:sym typeface="Lato"/>
              </a:rPr>
              <a:t>Use KGs that are built for the specific domain of the question.</a:t>
            </a:r>
            <a:endParaRPr b="0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60600" y="38700"/>
            <a:ext cx="9022800" cy="5066100"/>
          </a:xfrm>
          <a:prstGeom prst="frame">
            <a:avLst>
              <a:gd fmla="val 2072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2"/>
          <p:cNvSpPr txBox="1"/>
          <p:nvPr>
            <p:ph idx="4294967295" type="title"/>
          </p:nvPr>
        </p:nvSpPr>
        <p:spPr>
          <a:xfrm>
            <a:off x="2630400" y="3480225"/>
            <a:ext cx="3883200" cy="961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6000">
                <a:latin typeface="Lato"/>
                <a:ea typeface="Lato"/>
                <a:cs typeface="Lato"/>
                <a:sym typeface="Lato"/>
              </a:rPr>
              <a:t>Thank You</a:t>
            </a:r>
            <a:endParaRPr b="0" sz="6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