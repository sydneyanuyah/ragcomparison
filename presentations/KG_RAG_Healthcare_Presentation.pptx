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9144000"/>
  <p:notesSz cx="6858000" cy="9144000"/>
  <p:embeddedFontLs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hL1K/OLHTALsOQyV5C//5orFJ6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La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Good day everyone. This presentation explores how knowledge graphs can improve the reliability of large language models in healthcare, focusing on Alzheimer’s disease and Type 2 diabetes.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af20e92c7_0_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g3daf20e92c7_0_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daf20e92c7_0_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Both Alzheimer’s and Type 2 diabetes are growing global health concerns and are biologically connected. However, LLMs often generate incorrect or fabricated medical information, especially when relying on unstructured text.</a:t>
            </a:r>
            <a:endParaRPr/>
          </a:p>
        </p:txBody>
      </p:sp>
      <p:sp>
        <p:nvSpPr>
          <p:cNvPr id="111" name="Google Shape;111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address this, we use knowledge graphs. These structure information into clear relationships, making it easier for models to retrieve accurate and relevant facts.</a:t>
            </a:r>
            <a:endParaRPr/>
          </a:p>
        </p:txBody>
      </p:sp>
      <p:sp>
        <p:nvSpPr>
          <p:cNvPr id="123" name="Google Shape;123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study focused on three key questions: whether knowledge graphs improve accuracy, whether the scope of the graph matters, and how different model sizes respond.</a:t>
            </a:r>
            <a:endParaRPr/>
          </a:p>
        </p:txBody>
      </p:sp>
      <p:sp>
        <p:nvSpPr>
          <p:cNvPr id="133" name="Google Shape;13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collected around 1000 research abstracts and built three types of knowledge graphs. We then tested their effectiveness using multiple-choice questions across several models.</a:t>
            </a:r>
            <a:endParaRPr/>
          </a:p>
        </p:txBody>
      </p:sp>
      <p:sp>
        <p:nvSpPr>
          <p:cNvPr id="143" name="Google Shape;143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compared different setups, from no RAG to multiple knowledge graph combinations, and ensured consistency using controlled prompting and low randomness.</a:t>
            </a:r>
            <a:endParaRPr/>
          </a:p>
        </p:txBody>
      </p:sp>
      <p:sp>
        <p:nvSpPr>
          <p:cNvPr id="151" name="Google Shape;151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(k1)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key finding was that higher randomness reduced accuracy. Models performed best when they stuck closely to retrieved facts.</a:t>
            </a: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(k2)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Interestingly, large models performed worse with knowledge graphs because the additional information sometimes confused them. Smaller models, however, improved significantly.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(k3)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also found that larger or combined graphs were not necessarily better. A focused, high-quality graph performed best.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main takeaway is that RAG must be tailored. It works well for smaller models, but requires careful design and filtering.</a:t>
            </a:r>
            <a:endParaRPr/>
          </a:p>
        </p:txBody>
      </p:sp>
      <p:sp>
        <p:nvSpPr>
          <p:cNvPr id="174" name="Google Shape;174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" name="Google Shape;184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conclusion, success depends on matching the right data to the right model and prioritizing precision over quantity.</a:t>
            </a:r>
            <a:endParaRPr/>
          </a:p>
        </p:txBody>
      </p:sp>
      <p:sp>
        <p:nvSpPr>
          <p:cNvPr id="185" name="Google Shape;185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" name="Google Shape;194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 you for listening. I’m happy to take any questions.</a:t>
            </a:r>
            <a:endParaRPr/>
          </a:p>
        </p:txBody>
      </p:sp>
      <p:sp>
        <p:nvSpPr>
          <p:cNvPr id="195" name="Google Shape;195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Google Shape;18;p16"/>
          <p:cNvCxnSpPr/>
          <p:nvPr/>
        </p:nvCxnSpPr>
        <p:spPr>
          <a:xfrm>
            <a:off x="425200" y="632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16"/>
          <p:cNvCxnSpPr/>
          <p:nvPr/>
        </p:nvCxnSpPr>
        <p:spPr>
          <a:xfrm>
            <a:off x="425200" y="55420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16"/>
          <p:cNvSpPr txBox="1"/>
          <p:nvPr>
            <p:ph type="title"/>
          </p:nvPr>
        </p:nvSpPr>
        <p:spPr>
          <a:xfrm>
            <a:off x="853950" y="1739800"/>
            <a:ext cx="7436100" cy="20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" name="Google Shape;21;p16"/>
          <p:cNvSpPr txBox="1"/>
          <p:nvPr>
            <p:ph idx="1" type="body"/>
          </p:nvPr>
        </p:nvSpPr>
        <p:spPr>
          <a:xfrm>
            <a:off x="853950" y="3892600"/>
            <a:ext cx="7436100" cy="14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2" type="sldNum"/>
          </p:nvPr>
        </p:nvSpPr>
        <p:spPr>
          <a:xfrm>
            <a:off x="8497999" y="6251679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9" name="Google Shape;39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4" name="Google Shape;64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4.jpg"/><Relationship Id="rId6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idx="1" type="body"/>
          </p:nvPr>
        </p:nvSpPr>
        <p:spPr>
          <a:xfrm>
            <a:off x="577550" y="4537365"/>
            <a:ext cx="74361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46"/>
              <a:buNone/>
            </a:pPr>
            <a:r>
              <a:rPr b="1" lang="en-US" sz="2100"/>
              <a:t>Research Presenter: </a:t>
            </a:r>
            <a:r>
              <a:rPr b="1" lang="en-US" sz="2100"/>
              <a:t>Sydney Anuyah</a:t>
            </a:r>
            <a:endParaRPr b="1" sz="2100"/>
          </a:p>
          <a:p>
            <a:pPr indent="0" lvl="0" marL="0" rtl="0" algn="ctr"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946"/>
              <a:buNone/>
            </a:pPr>
            <a:r>
              <a:rPr lang="en-US" sz="2100"/>
              <a:t>Indiana University, Indianapolis</a:t>
            </a:r>
            <a:endParaRPr sz="2100"/>
          </a:p>
        </p:txBody>
      </p:sp>
      <p:pic>
        <p:nvPicPr>
          <p:cNvPr descr="Indiana Hoosiers Logo and symbol, meaning, history, PNG, brand" id="91" name="Google Shape;9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558" y="5457060"/>
            <a:ext cx="1312334" cy="70485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"/>
          <p:cNvSpPr/>
          <p:nvPr/>
        </p:nvSpPr>
        <p:spPr>
          <a:xfrm>
            <a:off x="533400" y="668050"/>
            <a:ext cx="7934400" cy="12435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932B"/>
              </a:gs>
              <a:gs pos="100000">
                <a:srgbClr val="FFB673"/>
              </a:gs>
            </a:gsLst>
            <a:lin ang="16200000" scaled="0"/>
          </a:gradFill>
          <a:ln cap="flat" cmpd="sng" w="9525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KGs in RAG for Healthcare LLMs</a:t>
            </a:r>
            <a:endParaRPr b="1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Domain-Specific Knowledge Graphs in RAG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"/>
          <p:cNvSpPr txBox="1"/>
          <p:nvPr/>
        </p:nvSpPr>
        <p:spPr>
          <a:xfrm>
            <a:off x="1136075" y="2059864"/>
            <a:ext cx="768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" name="Google Shape;9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050" y="2854575"/>
            <a:ext cx="574425" cy="5744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"/>
          <p:cNvSpPr txBox="1"/>
          <p:nvPr/>
        </p:nvSpPr>
        <p:spPr>
          <a:xfrm>
            <a:off x="1455500" y="2854550"/>
            <a:ext cx="5680200" cy="5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Alzheimer’s (AD) &amp; Type 2 Diabetes (T2DM)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1050" y="3695974"/>
            <a:ext cx="574425" cy="5744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"/>
          <p:cNvSpPr txBox="1"/>
          <p:nvPr/>
        </p:nvSpPr>
        <p:spPr>
          <a:xfrm>
            <a:off x="1584600" y="3798525"/>
            <a:ext cx="49056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Improve factual accuracy of LLMs 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af20e92c7_0_28"/>
          <p:cNvSpPr/>
          <p:nvPr/>
        </p:nvSpPr>
        <p:spPr>
          <a:xfrm>
            <a:off x="229150" y="183950"/>
            <a:ext cx="8681400" cy="67611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g3daf20e92c7_0_2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b="1" lang="en-US" sz="6000"/>
              <a:t>INTRODUCTION</a:t>
            </a:r>
            <a:endParaRPr b="1" sz="6000"/>
          </a:p>
        </p:txBody>
      </p:sp>
      <p:pic>
        <p:nvPicPr>
          <p:cNvPr descr="Indiana Hoosiers Logo and symbol, meaning, history, PNG, brand" id="105" name="Google Shape;105;g3daf20e92c7_0_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79058" y="5553860"/>
            <a:ext cx="1312331" cy="7048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6" name="Google Shape;106;g3daf20e92c7_0_28"/>
          <p:cNvCxnSpPr/>
          <p:nvPr/>
        </p:nvCxnSpPr>
        <p:spPr>
          <a:xfrm>
            <a:off x="664825" y="1023050"/>
            <a:ext cx="7697100" cy="32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" name="Google Shape;107;g3daf20e92c7_0_28"/>
          <p:cNvCxnSpPr/>
          <p:nvPr/>
        </p:nvCxnSpPr>
        <p:spPr>
          <a:xfrm>
            <a:off x="664825" y="6339125"/>
            <a:ext cx="7697100" cy="32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/>
          <p:nvPr/>
        </p:nvSpPr>
        <p:spPr>
          <a:xfrm>
            <a:off x="2552800" y="684175"/>
            <a:ext cx="3695100" cy="5970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132325" y="183950"/>
            <a:ext cx="9011700" cy="6777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0200" lvl="0" marL="342900" rtl="0" algn="l"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AD &amp; T2DM are linked (insulin resistance, inflammation)</a:t>
            </a:r>
            <a:endParaRPr sz="2600"/>
          </a:p>
          <a:p>
            <a:pPr indent="-330200" lvl="0" marL="342900" rtl="0" algn="l">
              <a:spcBef>
                <a:spcPts val="64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LLMs can hallucinate medical facts</a:t>
            </a:r>
            <a:endParaRPr sz="2600"/>
          </a:p>
          <a:p>
            <a:pPr indent="-330200" lvl="0" marL="342900" rtl="0" algn="l">
              <a:spcBef>
                <a:spcPts val="64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Standard RAG uses messy text, leading to  noise.</a:t>
            </a:r>
            <a:endParaRPr sz="2600"/>
          </a:p>
        </p:txBody>
      </p:sp>
      <p:pic>
        <p:nvPicPr>
          <p:cNvPr descr="Indiana Hoosiers Logo and symbol, meaning, history, PNG, brand" id="116" name="Google Shape;1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558" y="5457060"/>
            <a:ext cx="1312331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lzheimer's (AD) and Type 2 Diabetes" id="117" name="Google Shape;117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5025" y="1805713"/>
            <a:ext cx="3524250" cy="3533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3"/>
          <p:cNvSpPr txBox="1"/>
          <p:nvPr/>
        </p:nvSpPr>
        <p:spPr>
          <a:xfrm>
            <a:off x="5752050" y="157005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</a:t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2617325" y="538950"/>
            <a:ext cx="4195500" cy="7050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1" sz="4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/>
          <p:nvPr/>
        </p:nvSpPr>
        <p:spPr>
          <a:xfrm>
            <a:off x="229150" y="183950"/>
            <a:ext cx="8681400" cy="6761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02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structured Knowledge Graphs (KGs)</a:t>
            </a:r>
            <a:endParaRPr sz="3000"/>
          </a:p>
          <a:p>
            <a:pPr indent="-330200" lvl="0" marL="34290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/>
              <a:t>Triples: Subject – Relation – Object </a:t>
            </a:r>
            <a:endParaRPr sz="3000"/>
          </a:p>
          <a:p>
            <a:pPr indent="-330200" lvl="0" marL="34290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Cleaner, more precise retrieval for LLMs</a:t>
            </a:r>
            <a:endParaRPr sz="3000"/>
          </a:p>
        </p:txBody>
      </p:sp>
      <p:sp>
        <p:nvSpPr>
          <p:cNvPr id="127" name="Google Shape;127;p4"/>
          <p:cNvSpPr/>
          <p:nvPr/>
        </p:nvSpPr>
        <p:spPr>
          <a:xfrm>
            <a:off x="2617325" y="538950"/>
            <a:ext cx="4195500" cy="7050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latin typeface="Calibri"/>
                <a:ea typeface="Calibri"/>
                <a:cs typeface="Calibri"/>
                <a:sym typeface="Calibri"/>
              </a:rPr>
              <a:t>Proposed Solution</a:t>
            </a:r>
            <a:endParaRPr b="1" sz="4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ndiana Hoosiers Logo and symbol, meaning, history, PNG, brand" id="128" name="Google Shape;12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79058" y="5553860"/>
            <a:ext cx="1312331" cy="7048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9" name="Google Shape;129;p4"/>
          <p:cNvCxnSpPr/>
          <p:nvPr/>
        </p:nvCxnSpPr>
        <p:spPr>
          <a:xfrm>
            <a:off x="632575" y="6396500"/>
            <a:ext cx="7697100" cy="32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/>
          <p:nvPr/>
        </p:nvSpPr>
        <p:spPr>
          <a:xfrm>
            <a:off x="164600" y="280775"/>
            <a:ext cx="8810400" cy="6341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02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 KGs improve accuracy in RAG?</a:t>
            </a:r>
            <a:endParaRPr sz="3000"/>
          </a:p>
          <a:p>
            <a:pPr indent="-330200" lvl="0" marL="34290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Does KG scope (focused </a:t>
            </a:r>
            <a:r>
              <a:rPr lang="en-US" sz="3000"/>
              <a:t>vs.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broad) matter?</a:t>
            </a:r>
            <a:endParaRPr sz="3000"/>
          </a:p>
          <a:p>
            <a:pPr indent="-330200" lvl="0" marL="34290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 small </a:t>
            </a:r>
            <a:r>
              <a:rPr lang="en-US" sz="3000"/>
              <a:t>vs.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large LLMs behave differently?</a:t>
            </a:r>
            <a:endParaRPr sz="3000"/>
          </a:p>
        </p:txBody>
      </p:sp>
      <p:sp>
        <p:nvSpPr>
          <p:cNvPr id="137" name="Google Shape;137;p5"/>
          <p:cNvSpPr/>
          <p:nvPr/>
        </p:nvSpPr>
        <p:spPr>
          <a:xfrm>
            <a:off x="1665275" y="538950"/>
            <a:ext cx="5664000" cy="7050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latin typeface="Calibri"/>
                <a:ea typeface="Calibri"/>
                <a:cs typeface="Calibri"/>
                <a:sym typeface="Calibri"/>
              </a:rPr>
              <a:t>Research Questions</a:t>
            </a:r>
            <a:endParaRPr b="1" sz="4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ndiana Hoosiers Logo and symbol, meaning, history, PNG, brand" id="138" name="Google Shape;1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79058" y="5553860"/>
            <a:ext cx="1312331" cy="7048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9" name="Google Shape;139;p5"/>
          <p:cNvCxnSpPr/>
          <p:nvPr/>
        </p:nvCxnSpPr>
        <p:spPr>
          <a:xfrm>
            <a:off x="632575" y="6396500"/>
            <a:ext cx="7697100" cy="32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8550"/>
            <a:ext cx="9144000" cy="6276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6"/>
          <p:cNvSpPr txBox="1"/>
          <p:nvPr/>
        </p:nvSpPr>
        <p:spPr>
          <a:xfrm>
            <a:off x="-3374300" y="31771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100"/>
              <a:t> </a:t>
            </a:r>
            <a:endParaRPr/>
          </a:p>
        </p:txBody>
      </p:sp>
      <p:pic>
        <p:nvPicPr>
          <p:cNvPr descr="Indiana Hoosiers Logo and symbol, meaning, history, PNG, brand" id="147" name="Google Shape;14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17908" y="5472260"/>
            <a:ext cx="1312331" cy="70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895850" cy="5857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7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</a:t>
            </a:r>
            <a:endParaRPr/>
          </a:p>
        </p:txBody>
      </p:sp>
      <p:pic>
        <p:nvPicPr>
          <p:cNvPr descr="Piece of duct tape sticking a note to the slide" id="155" name="Google Shape;155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3988" y="0"/>
            <a:ext cx="2352675" cy="9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7"/>
          <p:cNvSpPr txBox="1"/>
          <p:nvPr/>
        </p:nvSpPr>
        <p:spPr>
          <a:xfrm>
            <a:off x="584150" y="1342550"/>
            <a:ext cx="3824400" cy="367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•Compared 6 setups (No-RAG → All KGs)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•Zero-shot prompts (single-letter answers)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•Low temperature for factual consistency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list of text on a white background&#10;&#10;AI-generated content may be incorrect." id="157" name="Google Shape;157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1988" y="1098119"/>
            <a:ext cx="4039362" cy="5666357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7"/>
          <p:cNvSpPr txBox="1"/>
          <p:nvPr/>
        </p:nvSpPr>
        <p:spPr>
          <a:xfrm>
            <a:off x="4928377" y="1098113"/>
            <a:ext cx="2395800" cy="247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100"/>
              <a:t> </a:t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5102350" y="164600"/>
            <a:ext cx="3824400" cy="645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latin typeface="Calibri"/>
                <a:ea typeface="Calibri"/>
                <a:cs typeface="Calibri"/>
                <a:sym typeface="Calibri"/>
              </a:rPr>
              <a:t>Experimental Setup</a:t>
            </a:r>
            <a:endParaRPr b="1" sz="3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ndiana Hoosiers Logo and symbol, meaning, history, PNG, brand" id="160" name="Google Shape;160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1658" y="6010285"/>
            <a:ext cx="1312331" cy="70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/>
          <p:nvPr/>
        </p:nvSpPr>
        <p:spPr>
          <a:xfrm>
            <a:off x="83900" y="167825"/>
            <a:ext cx="8939700" cy="6583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 txBox="1"/>
          <p:nvPr>
            <p:ph idx="1" type="body"/>
          </p:nvPr>
        </p:nvSpPr>
        <p:spPr>
          <a:xfrm>
            <a:off x="503450" y="1474875"/>
            <a:ext cx="8183400" cy="46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404813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Higher </a:t>
            </a:r>
            <a:r>
              <a:rPr lang="en-US" sz="3000"/>
              <a:t>temperature leads to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lower accuracy.</a:t>
            </a:r>
            <a:endParaRPr sz="3000"/>
          </a:p>
          <a:p>
            <a:pPr indent="-40481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T=0.0 performed best consistently.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2</a:t>
            </a:r>
            <a:r>
              <a:rPr lang="en-US"/>
              <a:t>. Large models: KG-RAG reduced performance.</a:t>
            </a:r>
            <a:endParaRPr/>
          </a:p>
          <a:p>
            <a:pPr indent="-334328" lvl="0" marL="457200" rtl="0" algn="l">
              <a:spcBef>
                <a:spcPts val="640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Reason: added noise/distractors.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Small models: significant improvement with KG-RAG.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b="1" lang="en-US"/>
              <a:t>3.</a:t>
            </a:r>
            <a:r>
              <a:rPr lang="en-US"/>
              <a:t> Bigger KGs ≠ better.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Focused KG (AD-only) performed best.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Precision beats volume.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68" name="Google Shape;168;p8"/>
          <p:cNvSpPr/>
          <p:nvPr/>
        </p:nvSpPr>
        <p:spPr>
          <a:xfrm>
            <a:off x="1665275" y="538950"/>
            <a:ext cx="5664000" cy="7050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latin typeface="Calibri"/>
                <a:ea typeface="Calibri"/>
                <a:cs typeface="Calibri"/>
                <a:sym typeface="Calibri"/>
              </a:rPr>
              <a:t>Key Results 1, 2, &amp; 3</a:t>
            </a:r>
            <a:endParaRPr b="1" sz="4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ndiana Hoosiers Logo and symbol, meaning, history, PNG, brand" id="169" name="Google Shape;16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74508" y="5542335"/>
            <a:ext cx="1312331" cy="7048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0" name="Google Shape;170;p8"/>
          <p:cNvCxnSpPr/>
          <p:nvPr/>
        </p:nvCxnSpPr>
        <p:spPr>
          <a:xfrm>
            <a:off x="632575" y="6396500"/>
            <a:ext cx="7697100" cy="32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"/>
          <p:cNvSpPr/>
          <p:nvPr/>
        </p:nvSpPr>
        <p:spPr>
          <a:xfrm>
            <a:off x="164600" y="183950"/>
            <a:ext cx="8810400" cy="6519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2923925" y="506675"/>
            <a:ext cx="3404700" cy="7908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Takeaways</a:t>
            </a:r>
            <a:endParaRPr/>
          </a:p>
        </p:txBody>
      </p:sp>
      <p:sp>
        <p:nvSpPr>
          <p:cNvPr id="179" name="Google Shape;179;p11"/>
          <p:cNvSpPr txBox="1"/>
          <p:nvPr>
            <p:ph idx="1" type="body"/>
          </p:nvPr>
        </p:nvSpPr>
        <p:spPr>
          <a:xfrm>
            <a:off x="457200" y="187452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02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b="1" lang="en-US" sz="3000">
                <a:solidFill>
                  <a:schemeClr val="dk1"/>
                </a:solidFill>
              </a:rPr>
              <a:t>RAG is not one-size-fits-all</a:t>
            </a:r>
            <a:endParaRPr b="1" sz="3000"/>
          </a:p>
          <a:p>
            <a:pPr indent="-330200" lvl="0" marL="34290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b="1" lang="en-US" sz="3000">
                <a:solidFill>
                  <a:schemeClr val="dk1"/>
                </a:solidFill>
              </a:rPr>
              <a:t>Small models benefit most</a:t>
            </a:r>
            <a:endParaRPr b="1" sz="3000"/>
          </a:p>
          <a:p>
            <a:pPr indent="-330200" lvl="0" marL="34290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b="1" lang="en-US" sz="3000">
                <a:solidFill>
                  <a:schemeClr val="dk1"/>
                </a:solidFill>
              </a:rPr>
              <a:t>Use focused, relevant KGs</a:t>
            </a:r>
            <a:endParaRPr b="1" sz="3000"/>
          </a:p>
        </p:txBody>
      </p:sp>
      <p:cxnSp>
        <p:nvCxnSpPr>
          <p:cNvPr id="180" name="Google Shape;180;p11"/>
          <p:cNvCxnSpPr/>
          <p:nvPr/>
        </p:nvCxnSpPr>
        <p:spPr>
          <a:xfrm>
            <a:off x="632575" y="6396500"/>
            <a:ext cx="7697100" cy="32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Indiana Hoosiers Logo and symbol, meaning, history, PNG, brand" id="181" name="Google Shape;18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74508" y="5542335"/>
            <a:ext cx="1312331" cy="70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"/>
          <p:cNvSpPr/>
          <p:nvPr/>
        </p:nvSpPr>
        <p:spPr>
          <a:xfrm>
            <a:off x="224525" y="159875"/>
            <a:ext cx="8759700" cy="6565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02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b="1" lang="en-US" sz="3000">
                <a:solidFill>
                  <a:schemeClr val="dk1"/>
                </a:solidFill>
              </a:rPr>
              <a:t>Match KG to task and model</a:t>
            </a:r>
            <a:endParaRPr b="1" sz="3000"/>
          </a:p>
          <a:p>
            <a:pPr indent="-330200" lvl="0" marL="34290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b="1" lang="en-US" sz="3000">
                <a:solidFill>
                  <a:schemeClr val="dk1"/>
                </a:solidFill>
              </a:rPr>
              <a:t>Prioritize clean, relevant data</a:t>
            </a:r>
            <a:endParaRPr b="1" sz="3000"/>
          </a:p>
          <a:p>
            <a:pPr indent="-330200" lvl="0" marL="34290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b="1" lang="en-US" sz="3000">
                <a:solidFill>
                  <a:schemeClr val="dk1"/>
                </a:solidFill>
              </a:rPr>
              <a:t>Avoid unnecessary context noise</a:t>
            </a:r>
            <a:endParaRPr b="1" sz="3000"/>
          </a:p>
        </p:txBody>
      </p:sp>
      <p:sp>
        <p:nvSpPr>
          <p:cNvPr id="189" name="Google Shape;189;p12"/>
          <p:cNvSpPr/>
          <p:nvPr/>
        </p:nvSpPr>
        <p:spPr>
          <a:xfrm>
            <a:off x="1665275" y="538950"/>
            <a:ext cx="5664000" cy="7050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1" sz="4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ndiana Hoosiers Logo and symbol, meaning, history, PNG, brand" id="190" name="Google Shape;19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74508" y="5542335"/>
            <a:ext cx="1312331" cy="7048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2"/>
          <p:cNvCxnSpPr/>
          <p:nvPr/>
        </p:nvCxnSpPr>
        <p:spPr>
          <a:xfrm>
            <a:off x="632575" y="6396500"/>
            <a:ext cx="7697100" cy="32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3"/>
          <p:cNvSpPr txBox="1"/>
          <p:nvPr>
            <p:ph type="title"/>
          </p:nvPr>
        </p:nvSpPr>
        <p:spPr>
          <a:xfrm>
            <a:off x="309800" y="44646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6000">
                <a:solidFill>
                  <a:schemeClr val="dk1"/>
                </a:solidFill>
              </a:rPr>
              <a:t>Thank </a:t>
            </a:r>
            <a:r>
              <a:rPr b="1" lang="en-US" sz="6000"/>
              <a:t>you.</a:t>
            </a:r>
            <a:endParaRPr b="1" sz="6000"/>
          </a:p>
        </p:txBody>
      </p:sp>
      <p:sp>
        <p:nvSpPr>
          <p:cNvPr id="198" name="Google Shape;198;p13"/>
          <p:cNvSpPr txBox="1"/>
          <p:nvPr/>
        </p:nvSpPr>
        <p:spPr>
          <a:xfrm>
            <a:off x="1003700" y="2410800"/>
            <a:ext cx="6841800" cy="40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ANY </a:t>
            </a:r>
            <a:endParaRPr b="1" sz="8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2825" y="2268800"/>
            <a:ext cx="3452450" cy="364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User</dc:creator>
</cp:coreProperties>
</file>